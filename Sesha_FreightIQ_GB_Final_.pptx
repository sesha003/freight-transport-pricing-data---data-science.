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47" autoAdjust="0"/>
    <p:restoredTop sz="94610"/>
  </p:normalViewPr>
  <p:slideViewPr>
    <p:cSldViewPr snapToGrid="0" snapToObjects="1">
      <p:cViewPr>
        <p:scale>
          <a:sx n="122" d="100"/>
          <a:sy n="122" d="100"/>
        </p:scale>
        <p:origin x="-684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6DD5A-CC93-42C7-9936-08A9CC1F092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E78E8-D036-41D4-88DB-29E3968056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2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 — ML Algorithm Description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·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Gradient Boosting?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2801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Boosting Regressor builds decision trees one after another. It starts from a single simple guess — the average cost — then each new tree is trained to predict the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left behind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all the trees so far.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tree corrects the previous one, so the model keeps squeezing more signal out of the route, contract, vehicle and load features.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30906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3346704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shallow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built in sequence, each fixing the last — usually lower error, but more sensitive to its settings.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23560" y="960120"/>
            <a:ext cx="6199632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04241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Architecture</a:t>
            </a:r>
            <a:endParaRPr lang="en-US" sz="1200" dirty="0"/>
          </a:p>
        </p:txBody>
      </p:sp>
      <p:pic>
        <p:nvPicPr>
          <p:cNvPr id="18" name="Image 0" descr="arch_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596" y="1316736"/>
            <a:ext cx="5396992" cy="303580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65760" y="4590288"/>
            <a:ext cx="11457432" cy="1901952"/>
          </a:xfrm>
          <a:prstGeom prst="roundRect">
            <a:avLst>
              <a:gd name="adj" fmla="val 2404"/>
            </a:avLst>
          </a:prstGeom>
          <a:solidFill>
            <a:srgbClr val="E7F3F1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4937760"/>
            <a:ext cx="110642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sits at the higher-accuracy, higher-sensitivity end of tree ensembles — each stage focuses only on what the previous stages got wrong.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fits FreightIQ well: cost is continuous and driven by a mix of route, vehicle, product, geography, time, distance and load.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 — Encoding &amp; Train / Validation / Test Split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·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 8 — categorical label encoding</a:t>
            </a:r>
            <a:endParaRPr lang="en-US" sz="1200" dirty="0"/>
          </a:p>
        </p:txBody>
      </p:sp>
      <p:pic>
        <p:nvPicPr>
          <p:cNvPr id="11" name="Image 0" descr="assets/code_enco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688" y="1225296"/>
            <a:ext cx="3366584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36393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categorical columns are label-encoded; the encoding map is saved and reused later for the April forecast.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0" y="960120"/>
            <a:ext cx="5422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 / 10 split — Notebook Cell 12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1298448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1A7A7A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137160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159105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00800" y="213969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308,857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234086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84464" y="1298448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1A7A7A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84464" y="137160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84464" y="159105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8284464" y="213969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38,607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84464" y="234086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168128" y="1298448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1A7A7A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168128" y="137160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168128" y="159105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10168128" y="213969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38,608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168128" y="234086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0" y="2926080"/>
            <a:ext cx="5422392" cy="141732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583680" y="3017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separate validation set?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83680" y="33101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(80%)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fits the tree splits.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(10%)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early-stopping and picks baseline vs tuned.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(10%)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touched only once, for the final unbiased figures.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65760" y="4572000"/>
            <a:ext cx="11457432" cy="1920240"/>
          </a:xfrm>
          <a:prstGeom prst="roundRect">
            <a:avLst>
              <a:gd name="adj" fmla="val 2381"/>
            </a:avLst>
          </a:prstGeom>
          <a:solidFill>
            <a:srgbClr val="E7F3F1"/>
          </a:solidFill>
          <a:ln/>
        </p:spPr>
      </p:sp>
      <p:sp>
        <p:nvSpPr>
          <p:cNvPr id="33" name="Text 30"/>
          <p:cNvSpPr/>
          <p:nvPr/>
        </p:nvSpPr>
        <p:spPr>
          <a:xfrm>
            <a:off x="566928" y="4645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6928" y="4919472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numeric + encoded features feed the model; a fixed random_state = 42 makes the split and both trained models reproducible from run to run.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encoding_mapping is applied at forecast time, so unseen April routes are encoded exactly as in training.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 — Parameters &amp; Hyperparameters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·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5577840" cy="2304288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777240"/>
                <a:gridCol w="224028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boosting stages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each tree's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each weak learner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fraction per tree (regularises)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35204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learned during .fit() (split thresholds, leaf values). 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set before training; controls structure and how aggressively the model learns.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9601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 13 — baseline configuration</a:t>
            </a:r>
            <a:endParaRPr lang="en-US" sz="1200" dirty="0"/>
          </a:p>
        </p:txBody>
      </p:sp>
      <p:pic>
        <p:nvPicPr>
          <p:cNvPr id="13" name="Image 0" descr="assets/code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1225296"/>
            <a:ext cx="4398264" cy="11887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26480" y="25420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 21 — higher-capacity tuned model</a:t>
            </a:r>
            <a:endParaRPr lang="en-US" sz="1200" dirty="0"/>
          </a:p>
        </p:txBody>
      </p:sp>
      <p:pic>
        <p:nvPicPr>
          <p:cNvPr id="15" name="Image 1" descr="assets/code_tu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246" y="2798064"/>
            <a:ext cx="3688510" cy="17930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65760" y="4590288"/>
            <a:ext cx="11457432" cy="1901952"/>
          </a:xfrm>
          <a:prstGeom prst="roundRect">
            <a:avLst>
              <a:gd name="adj" fmla="val 2404"/>
            </a:avLst>
          </a:prstGeom>
          <a:solidFill>
            <a:srgbClr val="E7F3F1"/>
          </a:solidFill>
          <a:ln/>
        </p:spPr>
      </p:sp>
      <p:sp>
        <p:nvSpPr>
          <p:cNvPr id="17" name="Text 12"/>
          <p:cNvSpPr/>
          <p:nvPr/>
        </p:nvSpPr>
        <p:spPr>
          <a:xfrm>
            <a:off x="566928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66928" y="4937760"/>
            <a:ext cx="110642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Random Forest, scikit-learn's GradientBoostingRegressor trains one tree at a time and has no n_jobs — it cannot parallelise across cores.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and n_estimators trade off: a lower rate needs more stages to reach the same fit.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Design — Model Selection Justification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· 1/1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96926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does not rise in a straight line with distance — it also depends on vehicle, product, contract type and route. Gradient Boosting models exactly this kind of mixed, non-linear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27249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7190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007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2121408"/>
            <a:ext cx="23957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error-correction beats simple averaging on tabular data — squeezing maximum signal from route/contract/vehicle patterns.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55264" y="1572768"/>
            <a:ext cx="27249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19856" y="17190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419856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03904" y="17007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pricing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19856" y="2121408"/>
            <a:ext cx="23957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shallow trees model complex curves and interactions; cost does not scale linearly with distance.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44768" y="1572768"/>
            <a:ext cx="27249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7190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93408" y="17007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&amp; robust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2121408"/>
            <a:ext cx="23957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on label-encoded integers (8 categorical + 5 numeric); threshold splits resist extreme high-cost outliers.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34272" y="1572768"/>
            <a:ext cx="27249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98864" y="17190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9198864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82912" y="17007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(XAI)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98864" y="2121408"/>
            <a:ext cx="23957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MDI importance plus native SHAP TreeExplainer — business users can audit which factors drive each price.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24612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E7F3F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55264" y="324612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E7F3F1"/>
          </a:solidFill>
          <a:ln/>
        </p:spPr>
      </p:sp>
      <p:sp>
        <p:nvSpPr>
          <p:cNvPr id="35" name="Text 33"/>
          <p:cNvSpPr/>
          <p:nvPr/>
        </p:nvSpPr>
        <p:spPr>
          <a:xfrm>
            <a:off x="3392424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392424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44768" y="324612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E7F3F1"/>
          </a:solidFill>
          <a:ln/>
        </p:spPr>
      </p:sp>
      <p:sp>
        <p:nvSpPr>
          <p:cNvPr id="38" name="Text 36"/>
          <p:cNvSpPr/>
          <p:nvPr/>
        </p:nvSpPr>
        <p:spPr>
          <a:xfrm>
            <a:off x="6281928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281928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34272" y="324612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E7F3F1"/>
          </a:solidFill>
          <a:ln/>
        </p:spPr>
      </p:sp>
      <p:sp>
        <p:nvSpPr>
          <p:cNvPr id="41" name="Text 39"/>
          <p:cNvSpPr/>
          <p:nvPr/>
        </p:nvSpPr>
        <p:spPr>
          <a:xfrm>
            <a:off x="9171432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71432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 + SHAP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5760" y="4315968"/>
            <a:ext cx="11457432" cy="2176272"/>
          </a:xfrm>
          <a:prstGeom prst="roundRect">
            <a:avLst>
              <a:gd name="adj" fmla="val 2101"/>
            </a:avLst>
          </a:prstGeom>
          <a:solidFill>
            <a:srgbClr val="E7F3F1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" y="4663440"/>
            <a:ext cx="11064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captures distance alone but misses vehicle- and contract-specific interactions — Gradient Boosting captures those automatically and reaches the R² ≥ 0.95 target.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structured logistics data well while staying interpretable enough for a non-technical audience.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Design — Dataset &amp; Feature Selection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·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078992"/>
            <a:ext cx="26060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386,072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1508760"/>
            <a:ext cx="26060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dedup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987552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078992"/>
            <a:ext cx="26060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1508760"/>
            <a:ext cx="26060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987552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8776" y="1078992"/>
            <a:ext cx="26060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308,857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08776" y="1508760"/>
            <a:ext cx="26060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1704" y="987552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07424" y="1078992"/>
            <a:ext cx="26060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77,215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07424" y="1508760"/>
            <a:ext cx="26060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+ Test rows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199339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trains on the cleaned dataset from Part I — every retained shipment has non-null Cost, Distance, Load and all required route fields.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7452360" cy="2377440"/>
        </p:xfrm>
        <a:graphic>
          <a:graphicData uri="http://schemas.openxmlformats.org/drawingml/2006/table">
            <a:tbl>
              <a:tblPr/>
              <a:tblGrid>
                <a:gridCol w="1783080"/>
                <a:gridCol w="3017520"/>
                <a:gridCol w="2651760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geography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Source, Source State, Destination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lane-specific supply and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type, Product, Pricing type, Vehicle type, Body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pricing structure and cargo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Distance, Vehicle 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driver of fuel, time and toll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month, 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seasonal and yearly pricing patterns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8028432" y="2423160"/>
            <a:ext cx="3794760" cy="2788920"/>
          </a:xfrm>
          <a:prstGeom prst="roundRect">
            <a:avLst>
              <a:gd name="adj" fmla="val 1639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29600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is reused, not relearned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0" y="29626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categorical column is turned into an integer with LabelEncoder, and the mapping is stored in encoding_mapping.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229600" y="3931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Pricing_Type carries almost no signal in this cleaned data (≈0% importance) but is kept for consistency with the shared team feature set.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65760" y="5303520"/>
            <a:ext cx="11457432" cy="1188720"/>
          </a:xfrm>
          <a:prstGeom prst="roundRect">
            <a:avLst>
              <a:gd name="adj" fmla="val 3846"/>
            </a:avLst>
          </a:prstGeom>
          <a:solidFill>
            <a:srgbClr val="E7F3F1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5376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6928" y="56509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386,072 cleaned shipments are used — no extra rows drop out, confirming the earlier cleaning stage already removed nulls and invalid values.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Vehicle Load are the strongest commercial drivers and dominate the later importance rankings.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 — Baseline Gradient Boost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39011"/>
              </p:ext>
            </p:extLst>
          </p:nvPr>
        </p:nvGraphicFramePr>
        <p:xfrm>
          <a:off x="365760" y="1005840"/>
          <a:ext cx="6035040" cy="1536192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188720"/>
                <a:gridCol w="100584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(Rs.)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(Rs.)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solidFill>
                            <a:srgbClr val="334155"/>
                          </a:solidFill>
                          <a:latin typeface="+mn-lt"/>
                        </a:rPr>
                        <a:t>628.94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solidFill>
                            <a:srgbClr val="334155"/>
                          </a:solidFill>
                          <a:latin typeface="+mn-lt"/>
                        </a:rPr>
                        <a:t>414.20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solidFill>
                            <a:srgbClr val="334155"/>
                          </a:solidFill>
                          <a:latin typeface="+mn-lt"/>
                        </a:rPr>
                        <a:t>29.91%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solidFill>
                            <a:srgbClr val="334155"/>
                          </a:solidFill>
                          <a:latin typeface="+mn-lt"/>
                        </a:rPr>
                        <a:t>621.05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solidFill>
                            <a:srgbClr val="334155"/>
                          </a:solidFill>
                          <a:latin typeface="+mn-lt"/>
                        </a:rPr>
                        <a:t>408.87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solidFill>
                            <a:srgbClr val="334155"/>
                          </a:solidFill>
                          <a:latin typeface="+mn-lt"/>
                        </a:rPr>
                        <a:t>29.47%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269748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27889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− Test R² gap = −0.0036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(threshold 0.05)  →  not overfitting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shallow baseline (100 trees, depth 3) underfits — it leaves cost signal uncaptured.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75120" y="9601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 13 — baseline fit</a:t>
            </a:r>
            <a:endParaRPr lang="en-US" sz="1200" dirty="0"/>
          </a:p>
        </p:txBody>
      </p:sp>
      <p:pic>
        <p:nvPicPr>
          <p:cNvPr id="15" name="Image 0" descr="assets/code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1225296"/>
            <a:ext cx="4059936" cy="10972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75120" y="2468880"/>
            <a:ext cx="514807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858000" y="25420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metrics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858000" y="27980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average Rupee error per shipment.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penalises large misses more.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share of cost variance explained.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average % error per shipment.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4224528"/>
            <a:ext cx="11457432" cy="2267712"/>
          </a:xfrm>
          <a:prstGeom prst="roundRect">
            <a:avLst>
              <a:gd name="adj" fmla="val 2016"/>
            </a:avLst>
          </a:prstGeom>
          <a:solidFill>
            <a:srgbClr val="E7F3F1"/>
          </a:solidFill>
          <a:ln/>
        </p:spPr>
      </p:sp>
      <p:sp>
        <p:nvSpPr>
          <p:cNvPr id="20" name="Text 16"/>
          <p:cNvSpPr/>
          <p:nvPr/>
        </p:nvSpPr>
        <p:spPr>
          <a:xfrm>
            <a:off x="566928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66928" y="4572000"/>
            <a:ext cx="110642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explains about 80% of freight-cost variance on unseen test data, with an average error near Rs.410 per shipment.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 scores are almost equal (gap −0.0036), so the weak learner generalises but leaves accuracy on the table — motivating the higher-capacity model next.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 — Baseline Error Behaviour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5669280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0241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— test shipments</a:t>
            </a:r>
            <a:endParaRPr lang="en-US" sz="1200" dirty="0"/>
          </a:p>
        </p:txBody>
      </p:sp>
      <p:pic>
        <p:nvPicPr>
          <p:cNvPr id="12" name="Image 0" descr="assets/cell19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81" y="1298448"/>
            <a:ext cx="4678237" cy="32918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960120"/>
            <a:ext cx="5650992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10241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distribution (Actual − Predicted)</a:t>
            </a:r>
            <a:endParaRPr lang="en-US" sz="1200" dirty="0"/>
          </a:p>
        </p:txBody>
      </p:sp>
      <p:pic>
        <p:nvPicPr>
          <p:cNvPr id="15" name="Image 1" descr="assets/cell18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44121"/>
            <a:ext cx="5486400" cy="220963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5760" y="4754880"/>
            <a:ext cx="276148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11480" y="4846320"/>
            <a:ext cx="267004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−39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11480" y="5182819"/>
            <a:ext cx="2670048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346704" y="4754880"/>
            <a:ext cx="276148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392424" y="4846320"/>
            <a:ext cx="267004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877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392424" y="5182819"/>
            <a:ext cx="2670048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pct. abs error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27648" y="4754880"/>
            <a:ext cx="276148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373368" y="4846320"/>
            <a:ext cx="267004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373368" y="5182819"/>
            <a:ext cx="2670048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within Rs.500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308592" y="4754880"/>
            <a:ext cx="2514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9354312" y="4846320"/>
            <a:ext cx="24231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623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9354312" y="5182819"/>
            <a:ext cx="2423160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65760" y="5577840"/>
            <a:ext cx="11457432" cy="914400"/>
          </a:xfrm>
          <a:prstGeom prst="roundRect">
            <a:avLst>
              <a:gd name="adj" fmla="val 5000"/>
            </a:avLst>
          </a:prstGeom>
          <a:solidFill>
            <a:srgbClr val="E7F3F1"/>
          </a:solidFill>
          <a:ln/>
        </p:spPr>
      </p:sp>
      <p:sp>
        <p:nvSpPr>
          <p:cNvPr id="29" name="Text 25"/>
          <p:cNvSpPr/>
          <p:nvPr/>
        </p:nvSpPr>
        <p:spPr>
          <a:xfrm>
            <a:off x="566928" y="5650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66928" y="59253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near zero (median Rs.−39) with no systematic bias — the baseline neither over- nor under-prices on average; the long tail comes from rare, high-value routes.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— Hyperparameter Tuning (RandomizedSearchCV)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· 1/3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 21 — higher-capacity model + early stopping</a:t>
            </a:r>
            <a:endParaRPr lang="en-US" sz="1200" dirty="0"/>
          </a:p>
        </p:txBody>
      </p:sp>
      <p:pic>
        <p:nvPicPr>
          <p:cNvPr id="11" name="Image 0" descr="assets/code_tu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02" y="1225296"/>
            <a:ext cx="3856155" cy="1874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760" y="3246120"/>
            <a:ext cx="5989320" cy="10515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0352" y="331927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early stopping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30352" y="358444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staged_predict scores the ensemble after every boosting stage on the validation set; the stage with the highest validation R² is kept, so trees that would only overfit are never added.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29400" y="960120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curve — R² vs boosting stages</a:t>
            </a:r>
            <a:endParaRPr lang="en-US" sz="1200" dirty="0"/>
          </a:p>
        </p:txBody>
      </p:sp>
      <p:pic>
        <p:nvPicPr>
          <p:cNvPr id="16" name="Image 1" descr="assets/cell22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895" y="1225296"/>
            <a:ext cx="4342802" cy="18745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629400" y="32461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629400" y="336499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629400" y="38221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stages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412480" y="32461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412480" y="336499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8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412480" y="38221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learners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10195560" y="32461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0195560" y="336499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0195560" y="38221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65760" y="4315968"/>
            <a:ext cx="11457432" cy="2176272"/>
          </a:xfrm>
          <a:prstGeom prst="roundRect">
            <a:avLst>
              <a:gd name="adj" fmla="val 2101"/>
            </a:avLst>
          </a:prstGeom>
          <a:solidFill>
            <a:srgbClr val="E7F3F1"/>
          </a:solidFill>
          <a:ln/>
        </p:spPr>
      </p:sp>
      <p:sp>
        <p:nvSpPr>
          <p:cNvPr id="27" name="Text 23"/>
          <p:cNvSpPr/>
          <p:nvPr/>
        </p:nvSpPr>
        <p:spPr>
          <a:xfrm>
            <a:off x="566928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66928" y="4663440"/>
            <a:ext cx="11064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capacity — depth 3 → 8 and 100 → 500 stages with subsample = 0.8 — lifts validation R² from 0.80 to 0.9586, clearing the 0.95 target.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stays untouched during tuning; only train and validation are used, so the final test score remains an honest estimate.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— Baseline vs Tuned Gradient Boost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· 2/3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4603"/>
              </p:ext>
            </p:extLst>
          </p:nvPr>
        </p:nvGraphicFramePr>
        <p:xfrm>
          <a:off x="365760" y="1005840"/>
          <a:ext cx="6355080" cy="1609344"/>
        </p:xfrm>
        <a:graphic>
          <a:graphicData uri="http://schemas.openxmlformats.org/drawingml/2006/table">
            <a:tbl>
              <a:tblPr/>
              <a:tblGrid>
                <a:gridCol w="1407197"/>
                <a:gridCol w="1316409"/>
                <a:gridCol w="1180229"/>
                <a:gridCol w="1316409"/>
                <a:gridCol w="1134836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 err="1" smtClean="0"/>
                        <a:t>Rs</a:t>
                      </a:r>
                      <a:r>
                        <a:rPr lang="en-IN" sz="1100" dirty="0" smtClean="0"/>
                        <a:t>. 411.19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 err="1" smtClean="0"/>
                        <a:t>Rs</a:t>
                      </a:r>
                      <a:r>
                        <a:rPr lang="en-IN" sz="1100" dirty="0" smtClean="0"/>
                        <a:t>. 155.84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 err="1" smtClean="0"/>
                        <a:t>Rs</a:t>
                      </a:r>
                      <a:r>
                        <a:rPr lang="en-IN" sz="1100" dirty="0" smtClean="0"/>
                        <a:t>. 412.23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 err="1" smtClean="0"/>
                        <a:t>Rs</a:t>
                      </a:r>
                      <a:r>
                        <a:rPr lang="en-IN" sz="1100" dirty="0" smtClean="0"/>
                        <a:t>. 174.11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0.9581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Rs.409.57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b="1" dirty="0" err="1" smtClean="0"/>
                        <a:t>Rs</a:t>
                      </a:r>
                      <a:r>
                        <a:rPr lang="en-IN" sz="1100" b="1" dirty="0" smtClean="0"/>
                        <a:t>. 172.16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rule favours the model with the higher validation R² — here the tuned model wins on every split.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3200400"/>
            <a:ext cx="2011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" y="3291840"/>
            <a:ext cx="1920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1480" y="3705149"/>
            <a:ext cx="19202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gain (test)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14600" y="3200400"/>
            <a:ext cx="2011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560320" y="3291840"/>
            <a:ext cx="1920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−Rs.336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560320" y="3705149"/>
            <a:ext cx="19202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reduction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320040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09160" y="329184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−Rs.237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709160" y="3705149"/>
            <a:ext cx="20116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reduction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95160" y="9601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 — MDI feature importance</a:t>
            </a:r>
            <a:endParaRPr lang="en-US" sz="1200" dirty="0"/>
          </a:p>
        </p:txBody>
      </p:sp>
      <p:pic>
        <p:nvPicPr>
          <p:cNvPr id="22" name="Image 0" descr="assets/cell2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110" y="1243584"/>
            <a:ext cx="3716979" cy="19202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903720" y="3200400"/>
            <a:ext cx="4919472" cy="896112"/>
          </a:xfrm>
          <a:prstGeom prst="roundRect">
            <a:avLst>
              <a:gd name="adj" fmla="val 5102"/>
            </a:avLst>
          </a:prstGeom>
          <a:solidFill>
            <a:srgbClr val="E7F3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086600" y="3264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genuinely improves the model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08660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trees plus more boosting stages capture the route/load interactions the shallow baseline missed — without overfitting (train−test gap only 0.0135).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65760" y="5713046"/>
            <a:ext cx="11457432" cy="779194"/>
          </a:xfrm>
          <a:prstGeom prst="roundRect">
            <a:avLst>
              <a:gd name="adj" fmla="val 2016"/>
            </a:avLst>
          </a:prstGeom>
          <a:solidFill>
            <a:srgbClr val="E7F3F1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5733835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11480" y="5989867"/>
            <a:ext cx="110642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— R², MAE, RMSE and MAPE — favours the tuned model on both validation and test, not just one metric in isolation.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made on validation R² before the test set is consulted, so it reflects genuine generalisation rather than a lucky test split. *Train MAE shown for reference.</a:t>
            </a:r>
            <a:endParaRPr lang="en-US" sz="11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727" y="4156379"/>
            <a:ext cx="4399425" cy="1403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— Feature Importance (MDI &amp; Permutation)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· 3/3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56692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assets/cell2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12" y="1005840"/>
            <a:ext cx="4424975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3364992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 Feature Importance — Tuned GB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960120"/>
            <a:ext cx="5650992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assets/cell27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837" y="1005840"/>
            <a:ext cx="4429718" cy="2286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72200" y="3364992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— measured on test set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374904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11480" y="3840480"/>
            <a:ext cx="267004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11480" y="4215384"/>
            <a:ext cx="2670048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— MDI share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346704" y="374904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392424" y="3840480"/>
            <a:ext cx="267004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392424" y="4215384"/>
            <a:ext cx="2670048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city — MDI share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27648" y="374904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373368" y="3840480"/>
            <a:ext cx="267004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373368" y="4215384"/>
            <a:ext cx="2670048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Load — MDI share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308592" y="37490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9354312" y="3840480"/>
            <a:ext cx="24231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9354312" y="4215384"/>
            <a:ext cx="242316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Type — MDI share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65760" y="4645152"/>
            <a:ext cx="11457432" cy="1847088"/>
          </a:xfrm>
          <a:prstGeom prst="roundRect">
            <a:avLst>
              <a:gd name="adj" fmla="val 2475"/>
            </a:avLst>
          </a:prstGeom>
          <a:solidFill>
            <a:srgbClr val="E7F3F1"/>
          </a:solidFill>
          <a:ln/>
        </p:spPr>
      </p:sp>
      <p:sp>
        <p:nvSpPr>
          <p:cNvPr id="29" name="Text 25"/>
          <p:cNvSpPr/>
          <p:nvPr/>
        </p:nvSpPr>
        <p:spPr>
          <a:xfrm>
            <a:off x="566928" y="4718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66928" y="4992624"/>
            <a:ext cx="110642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dominates both rankings (66.4% MDI), followed by source city and state, then destination geography and load — two independent methods agree, so the ranking is not an artifact of high-cardinality columns.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Pricing_Type contributes ≈0%, exactly as expected for this cleaned dataset; SHAP adds direction on top of these magnitudes.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 Analysis — Model Selection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·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 38 — final model selection (validation-first)</a:t>
            </a:r>
            <a:endParaRPr lang="en-US" sz="1200" dirty="0"/>
          </a:p>
        </p:txBody>
      </p:sp>
      <p:pic>
        <p:nvPicPr>
          <p:cNvPr id="11" name="Image 0" descr="assets/code_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76" y="1225296"/>
            <a:ext cx="5950928" cy="2011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760" y="3383280"/>
            <a:ext cx="6583680" cy="141732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34747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Tuned Gradient Boosting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85616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using the higher validation R² — not chosen from the test result. This makes the conclusion stronger: the tuned model generalises better rather than simply scoring well by chance on the held-out test set.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0" y="9601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60920" y="105156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360920" y="15087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R²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656064" y="9601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701784" y="105156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Rs.286.90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701784" y="15087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0" y="201168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60920" y="21031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Rs.172.16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360920" y="25603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656064" y="201168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701784" y="21031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13.14%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701784" y="25603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MAPE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0" y="3063240"/>
            <a:ext cx="4498848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49808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process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98080" y="356616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E7F3F1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0" y="3621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571232" y="3877056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&amp; tuned GB on the same split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732520" y="35661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933688" y="356616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E7F3F1"/>
          </a:solidFill>
          <a:ln/>
        </p:spPr>
      </p:sp>
      <p:sp>
        <p:nvSpPr>
          <p:cNvPr id="34" name="Text 31"/>
          <p:cNvSpPr/>
          <p:nvPr/>
        </p:nvSpPr>
        <p:spPr>
          <a:xfrm>
            <a:off x="8933688" y="3621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006840" y="3877056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validation R² only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0168128" y="35661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369296" y="356616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E7F3F1"/>
          </a:solidFill>
          <a:ln/>
        </p:spPr>
      </p:sp>
      <p:sp>
        <p:nvSpPr>
          <p:cNvPr id="38" name="Text 35"/>
          <p:cNvSpPr/>
          <p:nvPr/>
        </p:nvSpPr>
        <p:spPr>
          <a:xfrm>
            <a:off x="10369296" y="3621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442448" y="3877056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test score for the winner, once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65760" y="4828032"/>
            <a:ext cx="11457432" cy="1664208"/>
          </a:xfrm>
          <a:prstGeom prst="roundRect">
            <a:avLst>
              <a:gd name="adj" fmla="val 2747"/>
            </a:avLst>
          </a:prstGeom>
          <a:solidFill>
            <a:srgbClr val="E7F3F1"/>
          </a:solidFill>
          <a:ln/>
        </p:spPr>
      </p:sp>
      <p:sp>
        <p:nvSpPr>
          <p:cNvPr id="41" name="Text 38"/>
          <p:cNvSpPr/>
          <p:nvPr/>
        </p:nvSpPr>
        <p:spPr>
          <a:xfrm>
            <a:off x="566928" y="4901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66928" y="5175504"/>
            <a:ext cx="11064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Validation-first selection: the baseline-vs-tuned choice was locked in on validation R² before test data was consulted — the process finds whichever configuration performs best; it doesn't confirm a result after the fact.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 Analysis — Residuals &amp; SHAP Model Trust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679192" cy="329184"/>
          </a:xfrm>
          <a:prstGeom prst="roundRect">
            <a:avLst>
              <a:gd name="adj" fmla="val 16667"/>
            </a:avLst>
          </a:prstGeom>
          <a:solidFill>
            <a:srgbClr val="0058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097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·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FreightIQ  ·  Team GR01  ·  Gradient Boosting  ·  AIM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562356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0241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detection — Base vs Tuned GB</a:t>
            </a:r>
            <a:endParaRPr lang="en-US" sz="1200" dirty="0"/>
          </a:p>
        </p:txBody>
      </p:sp>
      <p:pic>
        <p:nvPicPr>
          <p:cNvPr id="12" name="Image 0" descr="assets/cell33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16910"/>
            <a:ext cx="5440680" cy="26457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26480" y="960120"/>
            <a:ext cx="5696712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0241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 — 2,000 test predictions</a:t>
            </a:r>
            <a:endParaRPr lang="en-US" sz="1200" dirty="0"/>
          </a:p>
        </p:txBody>
      </p:sp>
      <p:pic>
        <p:nvPicPr>
          <p:cNvPr id="15" name="Image 1" descr="assets/cell44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70" y="1316736"/>
            <a:ext cx="3898331" cy="32461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5760" y="4709160"/>
            <a:ext cx="11457432" cy="1783080"/>
          </a:xfrm>
          <a:prstGeom prst="roundRect">
            <a:avLst>
              <a:gd name="adj" fmla="val 2564"/>
            </a:avLst>
          </a:prstGeom>
          <a:solidFill>
            <a:srgbClr val="E7F3F1"/>
          </a:solidFill>
          <a:ln/>
        </p:spPr>
      </p:sp>
      <p:sp>
        <p:nvSpPr>
          <p:cNvPr id="17" name="Text 13"/>
          <p:cNvSpPr/>
          <p:nvPr/>
        </p:nvSpPr>
        <p:spPr>
          <a:xfrm>
            <a:off x="566928" y="4782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66928" y="5056632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high-cost detection (top-20% shipments) the tuned model reaches precision 0.919, recall 0.884, F1 0.901 and ROC-AUC 0.990 — well above the baseline (F1 0.766).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confirms the same ranking as MDI and permutation: Distance dominates, followed by source geography and load, and it adds direction — high distance pushes predicted cost up.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1940</Words>
  <Application>Microsoft Office PowerPoint</Application>
  <PresentationFormat>Custom</PresentationFormat>
  <Paragraphs>311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FreightIQ — Gradient Boosting</dc:title>
  <dc:subject>PptxGenJS Presentation</dc:subject>
  <dc:creator>Team GR01</dc:creator>
  <cp:lastModifiedBy>Swift ProSys</cp:lastModifiedBy>
  <cp:revision>6</cp:revision>
  <dcterms:created xsi:type="dcterms:W3CDTF">2026-07-03T01:09:35Z</dcterms:created>
  <dcterms:modified xsi:type="dcterms:W3CDTF">2026-07-03T04:47:30Z</dcterms:modified>
</cp:coreProperties>
</file>